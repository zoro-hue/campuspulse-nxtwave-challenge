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  <ns0:embeddedFont>
      <ns0:font typeface="Space Grotesk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34f37831-33e6-4c2b-890f-04d3af4a3fe8.fntdata" /><ns0:Relationship Id="rIdFont13" Type="http://schemas.openxmlformats.org/officeDocument/2006/relationships/font" Target="fonts/97faa15f-8aa6-4980-aebf-586d51859921.fntdata" /><ns0:Relationship Id="rIdFont14" Type="http://schemas.openxmlformats.org/officeDocument/2006/relationships/font" Target="fonts/56fd6bf6-8feb-4686-81d3-c395e8980a05.fntdata" /><ns0:Relationship Id="rIdFont15" Type="http://schemas.openxmlformats.org/officeDocument/2006/relationships/font" Target="fonts/e03c4104-c87e-451c-bec5-c4cf8aa209b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5915025"/>
            <a:ext cx="105156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200" y="4221509"/>
            <a:ext cx="7810500" cy="588466"/>
          </a:xfrm>
          <a:prstGeom prst="roundRect">
            <a:avLst>
              <a:gd name="adj" fmla="val 3237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5915025"/>
            <a:ext cx="105156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2300" y="2681436"/>
            <a:ext cx="2886075" cy="847725"/>
          </a:xfrm>
          <a:prstGeom prst="roundRect">
            <a:avLst>
              <a:gd name="adj" fmla="val 4494"/>
            </a:avLst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200" y="4221509"/>
            <a:ext cx="28575" cy="588466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609600"/>
            <a:ext cx="4298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23232"/>
                </a:solidFill>
                <a:latin typeface="Space Grotesk"/>
              </a:rPr>
              <a:t>NXTWAVE GROWTH CHALLENGE · 7-DAY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8275" y="609600"/>
            <a:ext cx="2869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E6E6E"/>
                </a:solidFill>
                <a:latin typeface="Space Grotesk"/>
              </a:rPr>
              <a:t>CAMPUSPULSE · GROWTH DECISION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057548"/>
            <a:ext cx="9901237" cy="1400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b="1" sz="5250" i="0" u="none">
                <a:solidFill>
                  <a:srgbClr val="323232"/>
                </a:solidFill>
                <a:latin typeface="Plus Jakarta Sans"/>
              </a:rPr>
              <a:t>500 registrations.</a:t>
            </a:r>
            <a:r>
              <a:t>
</a:t>
            </a:r>
            <a:r>
              <a:rPr b="1" sz="5250" i="0" u="none">
                <a:solidFill>
                  <a:srgbClr val="323232"/>
                </a:solidFill>
                <a:latin typeface="Plus Jakarta Sans"/>
              </a:rPr>
              <a:t> 7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86323"/>
            <a:ext cx="10477500" cy="3065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1725" i="0" u="none">
                <a:solidFill>
                  <a:srgbClr val="6E6E6E"/>
                </a:solidFill>
                <a:latin typeface="Plus Jakarta Sans"/>
              </a:rPr>
              <a:t>A campus-first growth system for “Build Your First AI Project in 60 Minutes.”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6096000"/>
            <a:ext cx="5131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23232"/>
                </a:solidFill>
                <a:latin typeface="Plus Jakarta Sans"/>
              </a:rPr>
              <a:t>Audience: Final-Year Engineering Students Seeking Practical AI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2450" y="6096000"/>
            <a:ext cx="3976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E6E6E"/>
                </a:solidFill>
                <a:latin typeface="Space Grotesk"/>
              </a:rPr>
              <a:t>PLANS &amp; ASSUMPTIONS ONLY · NO CAMPAIGN HAS BEEN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2681436"/>
            <a:ext cx="3378993" cy="847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b="1" sz="5250" i="0" u="none">
                <a:solidFill>
                  <a:srgbClr val="323232"/>
                </a:solidFill>
                <a:latin typeface="Plus Jakarta Sans"/>
              </a:rPr>
              <a:t>₹2,000.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335809"/>
            <a:ext cx="757237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825" i="0" u="none">
                <a:solidFill>
                  <a:srgbClr val="6E6E6E"/>
                </a:solidFill>
                <a:latin typeface="Plus Jakarta Sans"/>
              </a:rPr>
              <a:t>Why students register (untested assumption):</a:t>
            </a:r>
            <a:r>
              <a:rPr b="0" sz="975" i="0" u="none">
                <a:solidFill>
                  <a:srgbClr val="323232"/>
                </a:solidFill>
                <a:latin typeface="Plus Jakarta Sans"/>
              </a:rPr>
              <a:t> “Free, 60 minutes, one concrete first AI project” lowers friction for placement-focused seniors who want proof of build capability.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543550"/>
            <a:ext cx="10820400" cy="895350"/>
          </a:xfrm>
          <a:prstGeom prst="roundRect">
            <a:avLst>
              <a:gd name="adj" fmla="val 4255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401788"/>
            <a:ext cx="2605087" cy="2215157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24237" y="2401788"/>
            <a:ext cx="2605087" cy="2215157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2675" y="2401788"/>
            <a:ext cx="2605087" cy="2215157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1112" y="2401788"/>
            <a:ext cx="2605087" cy="2215157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1132" y="5753100"/>
            <a:ext cx="4836467" cy="47625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607421"/>
            <a:ext cx="2605087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01788"/>
            <a:ext cx="2605087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1362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7725" y="3578721"/>
            <a:ext cx="2281237" cy="8572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4237" y="4607421"/>
            <a:ext cx="2605087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4237" y="2401788"/>
            <a:ext cx="2605087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4237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9800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86162" y="3578721"/>
            <a:ext cx="2281237" cy="8572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2675" y="4607421"/>
            <a:ext cx="2605087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2675" y="2401788"/>
            <a:ext cx="2605087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2675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8237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600" y="3721596"/>
            <a:ext cx="2281237" cy="714375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1112" y="4607421"/>
            <a:ext cx="2605087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1112" y="2401788"/>
            <a:ext cx="2605087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1112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96675" y="2401788"/>
            <a:ext cx="9525" cy="2215157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63037" y="3578721"/>
            <a:ext cx="2281237" cy="8572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057" y="5857875"/>
            <a:ext cx="12382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30022" y="1084659"/>
            <a:ext cx="237142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PLANNING TARGETS · NOT ACTUAL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9100"/>
            <a:ext cx="1068027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E6E6E"/>
                </a:solidFill>
                <a:latin typeface="Space Grotesk"/>
              </a:rPr>
              <a:t>ACQUISITION CHANNELS &amp; BUDGET 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8650"/>
            <a:ext cx="9071446" cy="722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b="1" sz="2475" i="0" u="none">
                <a:solidFill>
                  <a:srgbClr val="323232"/>
                </a:solidFill>
                <a:latin typeface="Plus Jakarta Sans"/>
              </a:rPr>
              <a:t>Hypothesis: Trust gets attention. Attribution creates learning.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3057" y="5838825"/>
            <a:ext cx="4607867" cy="3048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DD0C8"/>
                </a:solidFill>
                <a:latin typeface="Plus Jakarta Sans"/>
              </a:rPr>
              <a:t>₹350 Reserve: released at Day 3 or Day 6 only to a channel at or above pace; otherwise unspent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2611338"/>
            <a:ext cx="28515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CHANNEL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2801838"/>
            <a:ext cx="299412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23232"/>
                </a:solidFill>
                <a:latin typeface="Plus Jakarta Sans"/>
              </a:rPr>
              <a:t>Clubs &amp; Class Reps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3068538"/>
            <a:ext cx="2376487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Direct outreach via technical clubs and department representatives.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" y="3702546"/>
            <a:ext cx="24943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23232"/>
                </a:solidFill>
                <a:latin typeface="Space Grotesk"/>
              </a:rPr>
              <a:t>200 </a:t>
            </a:r>
            <a:r>
              <a:rPr b="0" sz="900" i="0" u="none">
                <a:solidFill>
                  <a:srgbClr val="6E6E6E"/>
                </a:solidFill>
                <a:latin typeface="Space Grotesk"/>
              </a:rPr>
              <a:t>target regs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600" y="4026396"/>
            <a:ext cx="20907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23232"/>
                </a:solidFill>
                <a:latin typeface="Plus Jakarta Sans"/>
              </a:rPr>
              <a:t>Budget: ₹0 </a:t>
            </a:r>
            <a:r>
              <a:rPr b="0" sz="900" i="0" u="none">
                <a:solidFill>
                  <a:srgbClr val="6E6E6E"/>
                </a:solidFill>
                <a:latin typeface="Plus Jakarta Sans"/>
              </a:rPr>
              <a:t>(20 admins × ≈10 sign-ups)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6162" y="2611338"/>
            <a:ext cx="28515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23232"/>
                </a:solidFill>
                <a:latin typeface="Space Grotesk"/>
              </a:rPr>
              <a:t>CHANNEL 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6162" y="2801838"/>
            <a:ext cx="299412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23232"/>
                </a:solidFill>
                <a:latin typeface="Plus Jakarta Sans"/>
              </a:rPr>
              <a:t>Student Ambassadors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6162" y="3068538"/>
            <a:ext cx="2376487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Campus peer-to-peer distribution via planned tracked referral links.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9037" y="3702546"/>
            <a:ext cx="24943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23232"/>
                </a:solidFill>
                <a:latin typeface="Space Grotesk"/>
              </a:rPr>
              <a:t>150 </a:t>
            </a:r>
            <a:r>
              <a:rPr b="0" sz="900" i="0" u="none">
                <a:solidFill>
                  <a:srgbClr val="6E6E6E"/>
                </a:solidFill>
                <a:latin typeface="Space Grotesk"/>
              </a:rPr>
              <a:t>target regs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9037" y="4026396"/>
            <a:ext cx="20907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23232"/>
                </a:solidFill>
                <a:latin typeface="Plus Jakarta Sans"/>
              </a:rPr>
              <a:t>Budget: ₹500 </a:t>
            </a:r>
            <a:r>
              <a:rPr b="0" sz="787" i="0" u="none">
                <a:solidFill>
                  <a:srgbClr val="6E6E6E"/>
                </a:solidFill>
                <a:latin typeface="Plus Jakarta Sans"/>
              </a:rPr>
              <a:t>(planned est.: ≈₹3.33 per target registration, not CPR; 15 × ≈10)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4600" y="2611338"/>
            <a:ext cx="28515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CHANNEL 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2801838"/>
            <a:ext cx="299412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23232"/>
                </a:solidFill>
                <a:latin typeface="Plus Jakarta Sans"/>
              </a:rPr>
              <a:t>WhatsApp Groups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3068538"/>
            <a:ext cx="2376487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Admin-approved broadcasts in relevant student coding and developer groups.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7475" y="3845421"/>
            <a:ext cx="24943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23232"/>
                </a:solidFill>
                <a:latin typeface="Space Grotesk"/>
              </a:rPr>
              <a:t>100 </a:t>
            </a:r>
            <a:r>
              <a:rPr b="0" sz="900" i="0" u="none">
                <a:solidFill>
                  <a:srgbClr val="6E6E6E"/>
                </a:solidFill>
                <a:latin typeface="Space Grotesk"/>
              </a:rPr>
              <a:t>target regs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7475" y="4169271"/>
            <a:ext cx="2494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23232"/>
                </a:solidFill>
                <a:latin typeface="Plus Jakarta Sans"/>
              </a:rPr>
              <a:t>Budget: ₹0 </a:t>
            </a:r>
            <a:r>
              <a:rPr b="0" sz="825" i="0" u="none">
                <a:solidFill>
                  <a:srgbClr val="6E6E6E"/>
                </a:solidFill>
                <a:latin typeface="Plus Jakarta Sans"/>
              </a:rPr>
              <a:t>(10 groups × ≈10 sign-ups)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3037" y="2611338"/>
            <a:ext cx="28515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CHANNEL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63037" y="2801838"/>
            <a:ext cx="299412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23232"/>
                </a:solidFill>
                <a:latin typeface="Plus Jakarta Sans"/>
              </a:rPr>
              <a:t>Social + Paid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3037" y="3068538"/>
            <a:ext cx="2376487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Demo reel; micro-boost only if organic interest appears. Directional test only.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05912" y="3702546"/>
            <a:ext cx="24943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23232"/>
                </a:solidFill>
                <a:latin typeface="Space Grotesk"/>
              </a:rPr>
              <a:t>50 </a:t>
            </a:r>
            <a:r>
              <a:rPr b="0" sz="900" i="0" u="none">
                <a:solidFill>
                  <a:srgbClr val="6E6E6E"/>
                </a:solidFill>
                <a:latin typeface="Space Grotesk"/>
              </a:rPr>
              <a:t>target regs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5912" y="4026396"/>
            <a:ext cx="20907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23232"/>
                </a:solidFill>
                <a:latin typeface="Plus Jakarta Sans"/>
              </a:rPr>
              <a:t>Budget: ₹1,150 </a:t>
            </a:r>
            <a:r>
              <a:rPr b="0" sz="787" i="0" u="none">
                <a:solidFill>
                  <a:srgbClr val="6E6E6E"/>
                </a:solidFill>
                <a:latin typeface="Plus Jakarta Sans"/>
              </a:rPr>
              <a:t>(planned est.: ≈₹23 per target registration, not CPR)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715000"/>
            <a:ext cx="27942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DDD0C8"/>
                </a:solidFill>
                <a:latin typeface="Space Grotesk"/>
              </a:rPr>
              <a:t>REGISTRATION TARGETS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867400"/>
            <a:ext cx="233064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200 + 150 + 100 + 50 = </a:t>
            </a:r>
            <a:r>
              <a:rPr b="1" sz="1200" i="0" u="none">
                <a:solidFill>
                  <a:srgbClr val="DDD0C8"/>
                </a:solidFill>
                <a:latin typeface="Plus Jakarta Sans"/>
              </a:rPr>
              <a:t>500 Registrations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2742" y="5715000"/>
            <a:ext cx="32479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DDD0C8"/>
                </a:solidFill>
                <a:latin typeface="Space Grotesk"/>
              </a:rPr>
              <a:t>TOTAL BUDGET RECONCILIATION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2742" y="5867400"/>
            <a:ext cx="26936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₹500 + ₹1,150 + </a:t>
            </a:r>
            <a:r>
              <a:rPr b="1" sz="1200" i="0" u="none">
                <a:solidFill>
                  <a:srgbClr val="DDD0C8"/>
                </a:solidFill>
                <a:latin typeface="Plus Jakarta Sans"/>
              </a:rPr>
              <a:t>₹350 (Reserve)</a:t>
            </a:r>
            <a:r>
              <a:rPr b="1" sz="1200" i="0" u="none">
                <a:solidFill>
                  <a:srgbClr val="FFFFFF"/>
                </a:solidFill>
                <a:latin typeface="Plus Jakarta Sans"/>
              </a:rPr>
              <a:t> = ₹2,000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10820400" cy="723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70979"/>
            <a:ext cx="10820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443757"/>
            <a:ext cx="2057400" cy="178057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76550" y="2443757"/>
            <a:ext cx="2057400" cy="178057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67300" y="2443757"/>
            <a:ext cx="2057400" cy="178057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58050" y="2443757"/>
            <a:ext cx="2057400" cy="178057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48800" y="2443757"/>
            <a:ext cx="2057400" cy="178057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487590"/>
            <a:ext cx="6117431" cy="913209"/>
          </a:xfrm>
          <a:prstGeom prst="rect">
            <a:avLst/>
          </a:prstGeom>
          <a:solidFill>
            <a:srgbClr val="F5F5F3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93731" y="5487590"/>
            <a:ext cx="4512468" cy="913209"/>
          </a:xfrm>
          <a:prstGeom prst="roundRect">
            <a:avLst>
              <a:gd name="adj" fmla="val 2086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214812"/>
            <a:ext cx="2057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443757"/>
            <a:ext cx="2057400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3675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6550" y="4214812"/>
            <a:ext cx="2057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76550" y="2443757"/>
            <a:ext cx="2057400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76550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24425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7300" y="4214812"/>
            <a:ext cx="2057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300" y="2443757"/>
            <a:ext cx="2057400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7300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15175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58050" y="4214812"/>
            <a:ext cx="2057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58050" y="2443757"/>
            <a:ext cx="2057400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050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05925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48800" y="4214812"/>
            <a:ext cx="2057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48800" y="2443757"/>
            <a:ext cx="2057400" cy="381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48800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96675" y="2443757"/>
            <a:ext cx="9525" cy="178057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93731" y="5487590"/>
            <a:ext cx="47625" cy="913209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95500" y="2653307"/>
            <a:ext cx="504825" cy="152400"/>
          </a:xfrm>
          <a:prstGeom prst="roundRect">
            <a:avLst>
              <a:gd name="adj" fmla="val 12500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00550" y="2653307"/>
            <a:ext cx="390525" cy="152400"/>
          </a:xfrm>
          <a:prstGeom prst="roundRect">
            <a:avLst>
              <a:gd name="adj" fmla="val 12500"/>
            </a:avLst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62725" y="2653307"/>
            <a:ext cx="419100" cy="152400"/>
          </a:xfrm>
          <a:prstGeom prst="roundRect">
            <a:avLst>
              <a:gd name="adj" fmla="val 12500"/>
            </a:avLst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91550" y="2653307"/>
            <a:ext cx="581025" cy="152400"/>
          </a:xfrm>
          <a:prstGeom prst="roundRect">
            <a:avLst>
              <a:gd name="adj" fmla="val 12500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982325" y="2653307"/>
            <a:ext cx="381000" cy="152400"/>
          </a:xfrm>
          <a:prstGeom prst="roundRect">
            <a:avLst>
              <a:gd name="adj" fmla="val 12500"/>
            </a:avLst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E6E6E"/>
                </a:solidFill>
                <a:latin typeface="Space Grotesk"/>
              </a:rPr>
              <a:t>7-DAY SPRINT TIMELINE &amp; DECISION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76275"/>
            <a:ext cx="11506200" cy="361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b="1" sz="2475" i="0" u="none">
                <a:solidFill>
                  <a:srgbClr val="323232"/>
                </a:solidFill>
                <a:latin typeface="Plus Jakarta Sans"/>
              </a:rPr>
              <a:t>Ship early. Measure daily. Reallocate with evidence.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75" y="2900957"/>
            <a:ext cx="23252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Build &amp; Seed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3177182"/>
            <a:ext cx="18669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Set up tracking links, brief ambassadors, and activate college club leads.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9425" y="2900957"/>
            <a:ext cx="23252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First 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9425" y="3177182"/>
            <a:ext cx="18669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Audit funnel conversion, remove signup friction, and check top channels.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0175" y="2900957"/>
            <a:ext cx="23252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Double 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0175" y="3177182"/>
            <a:ext cx="18669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Scale the best-performing channel and release the project curriculum preview.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0925" y="2900957"/>
            <a:ext cx="23252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Reserve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0925" y="3177182"/>
            <a:ext cx="186690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At Day 3 or Day 6, release ₹350 only to a channel at or above pace; keep unspent if data is inconclusive.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91675" y="2900957"/>
            <a:ext cx="23252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Final Push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91675" y="3177182"/>
            <a:ext cx="1866900" cy="866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Send one final deadline reminder (only if the deadline is real); run email/phone duplicate removal for unique count.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825" y="5649515"/>
            <a:ext cx="714672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PROPOSED DECISION RULE (UNVALIDATED ASSUMPTION · NOT A BENCHMARK)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825" y="5840015"/>
            <a:ext cx="5812631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23232"/>
                </a:solidFill>
                <a:latin typeface="Plus Jakarta Sans"/>
              </a:rPr>
              <a:t>Day 3 Audit Rule: at the end of Day 3, treat a channel as "behind" if it is below ≈30% of its target (70% of pro-rata pace). Release the ₹350 reserve only to a channel at or above pace.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1856" y="5639990"/>
            <a:ext cx="496014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DD0C8"/>
                </a:solidFill>
                <a:latin typeface="Space Grotesk"/>
              </a:rPr>
              <a:t>OPERATIONAL PRINCIPLE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1856" y="5811440"/>
            <a:ext cx="4179093" cy="436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b="1" sz="1275" i="0" u="none">
                <a:solidFill>
                  <a:srgbClr val="FFFFFF"/>
                </a:solidFill>
                <a:latin typeface="Plus Jakarta Sans"/>
              </a:rPr>
              <a:t>“Don’t optimise for impressions when the goal is registrations.”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675" y="2653307"/>
            <a:ext cx="771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Space Grotesk"/>
              </a:rPr>
              <a:t>DAYS 1–2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52650" y="2672357"/>
            <a:ext cx="4857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FFFFF"/>
                </a:solidFill>
                <a:latin typeface="Plus Jakarta Sans"/>
              </a:rPr>
              <a:t>LAUNCH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9425" y="2653307"/>
            <a:ext cx="590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Space Grotesk"/>
              </a:rPr>
              <a:t>DAY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7700" y="2672357"/>
            <a:ext cx="3714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323232"/>
                </a:solidFill>
                <a:latin typeface="Plus Jakarta Sans"/>
              </a:rPr>
              <a:t>AUDIT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0175" y="2653307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23232"/>
                </a:solidFill>
                <a:latin typeface="Space Grotesk"/>
              </a:rPr>
              <a:t>DAYS 4–5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9875" y="2672357"/>
            <a:ext cx="4000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323232"/>
                </a:solidFill>
                <a:latin typeface="Plus Jakarta Sans"/>
              </a:rPr>
              <a:t>SCALE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0925" y="2653307"/>
            <a:ext cx="590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Space Grotesk"/>
              </a:rPr>
              <a:t>DAY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8700" y="2672357"/>
            <a:ext cx="5619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FFFFF"/>
                </a:solidFill>
                <a:latin typeface="Plus Jakarta Sans"/>
              </a:rPr>
              <a:t>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91675" y="2653307"/>
            <a:ext cx="590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Space Grotesk"/>
              </a:rPr>
              <a:t>DAY 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39475" y="2672357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323232"/>
                </a:solidFill>
                <a:latin typeface="Plus Jakarta Sans"/>
              </a:rPr>
              <a:t>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9369"/>
            <a:ext cx="10820400" cy="52953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750" y="732829"/>
            <a:ext cx="1695450" cy="266700"/>
          </a:xfrm>
          <a:prstGeom prst="roundRect">
            <a:avLst>
              <a:gd name="adj" fmla="val 7142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28068"/>
            <a:ext cx="2821930" cy="1521618"/>
          </a:xfrm>
          <a:prstGeom prst="roundRect">
            <a:avLst>
              <a:gd name="adj" fmla="val 1251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41080" y="1928068"/>
            <a:ext cx="2822078" cy="1521618"/>
          </a:xfrm>
          <a:prstGeom prst="roundRect">
            <a:avLst>
              <a:gd name="adj" fmla="val 1251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583037"/>
            <a:ext cx="2821930" cy="1521618"/>
          </a:xfrm>
          <a:prstGeom prst="roundRect">
            <a:avLst>
              <a:gd name="adj" fmla="val 1251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41080" y="3583037"/>
            <a:ext cx="2822078" cy="1521618"/>
          </a:xfrm>
          <a:prstGeom prst="roundRect">
            <a:avLst>
              <a:gd name="adj" fmla="val 1251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91758" y="1928068"/>
            <a:ext cx="4814441" cy="3176587"/>
          </a:xfrm>
          <a:prstGeom prst="roundRect">
            <a:avLst>
              <a:gd name="adj" fmla="val 599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440162"/>
            <a:ext cx="282193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8068"/>
            <a:ext cx="2821930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928068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8205" y="1928068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41080" y="3440162"/>
            <a:ext cx="2822078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41080" y="1928068"/>
            <a:ext cx="2822078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1080" y="1928068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3633" y="1928068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095130"/>
            <a:ext cx="282193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83037"/>
            <a:ext cx="2821930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83037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98205" y="3583037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41080" y="5095130"/>
            <a:ext cx="2822078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41080" y="3583037"/>
            <a:ext cx="2822078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41080" y="3583037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3633" y="3583037"/>
            <a:ext cx="9525" cy="1521618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1308" y="3903910"/>
            <a:ext cx="457200" cy="19050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5050" y="789979"/>
            <a:ext cx="1562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DD0C8"/>
                </a:solidFill>
                <a:latin typeface="Space Grotesk"/>
              </a:rPr>
              <a:t>CAMPUSPULSE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6014144"/>
            <a:ext cx="105918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323232"/>
                </a:solidFill>
                <a:latin typeface="Plus Jakarta Sans"/>
              </a:rPr>
              <a:t>Transparency Note:</a:t>
            </a:r>
            <a:r>
              <a:rPr b="0" sz="900" i="0" u="none">
                <a:solidFill>
                  <a:srgbClr val="6E6E6E"/>
                </a:solidFill>
                <a:latin typeface="Plus Jakarta Sans"/>
              </a:rPr>
              <a:t> CampusPulse calls no AI API; recommendations use fixed rules, messages use templates, and data is illustrative/seeded. It does not collect registrations or generate ambassador codes; those require the planned external form and tracking spreadsheet.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9100"/>
            <a:ext cx="902735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E6E6E"/>
                </a:solidFill>
                <a:latin typeface="Space Grotesk"/>
              </a:rPr>
              <a:t>WORKING PROTOTYPE ASSET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8175"/>
            <a:ext cx="9478723" cy="361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b="1" sz="2475" i="0" u="none">
                <a:solidFill>
                  <a:srgbClr val="323232"/>
                </a:solidFill>
                <a:latin typeface="Plus Jakarta Sans"/>
              </a:rPr>
              <a:t>Not another landing page. A growth decision lab.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128093"/>
            <a:ext cx="31226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CAPABILITY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2318593"/>
            <a:ext cx="32787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Channel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2575768"/>
            <a:ext cx="259333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Compares planned targets with demo registrations and pace across channels using seeded mock data.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3005" y="2128093"/>
            <a:ext cx="312278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CAPABILITY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3005" y="2318593"/>
            <a:ext cx="32789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Message Experiments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3005" y="2575768"/>
            <a:ext cx="2593478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Compares conversion rates of two message variants from entered or sample data; a separate template-based generator drafts copy.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3783062"/>
            <a:ext cx="31226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CAPABILITY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3973562"/>
            <a:ext cx="32787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Referral Scenarios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230737"/>
            <a:ext cx="259333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Models conservative, base and optimistic referral outcomes from editable assumptions (modelled estimates, not forecasts).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03005" y="3783062"/>
            <a:ext cx="312278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6E6E"/>
                </a:solidFill>
                <a:latin typeface="Space Grotesk"/>
              </a:rPr>
              <a:t>CAPABILITY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3005" y="3973562"/>
            <a:ext cx="32789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23232"/>
                </a:solidFill>
                <a:latin typeface="Plus Jakarta Sans"/>
              </a:rPr>
              <a:t>Next-Action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3005" y="4230737"/>
            <a:ext cx="2593478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555555"/>
                </a:solidFill>
                <a:latin typeface="Plus Jakarta Sans"/>
              </a:rPr>
              <a:t>Transparent, rules-based recommendations to guide next-step decisions.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1308" y="2803177"/>
            <a:ext cx="529069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DD0C8"/>
                </a:solidFill>
                <a:latin typeface="Space Grotesk"/>
              </a:rPr>
              <a:t>STRATEGIC DIFFERENTIATION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1308" y="3012727"/>
            <a:ext cx="4490591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“A registration page captures intent. CampusPulse is designed to help determine where the next unit of effort should go.”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1308" y="4056310"/>
            <a:ext cx="5290691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DDD0C8"/>
                </a:solidFill>
                <a:latin typeface="Plus Jakarta Sans"/>
              </a:rPr>
              <a:t>Built as a single-file prototype; its limits are stated in the note below.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1000"/>
            <a:ext cx="10820400" cy="6661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275808"/>
            <a:ext cx="10820400" cy="381000"/>
          </a:xfrm>
          <a:prstGeom prst="roundRect">
            <a:avLst>
              <a:gd name="adj" fmla="val 7500"/>
            </a:avLst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245423"/>
            <a:ext cx="10820400" cy="3455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7629"/>
            <a:ext cx="10820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35769"/>
            <a:ext cx="3517850" cy="1647825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7000" y="1635769"/>
            <a:ext cx="3517850" cy="1647825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8200" y="1635769"/>
            <a:ext cx="3517850" cy="1647825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872210"/>
            <a:ext cx="3278088" cy="814982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78188" y="3872210"/>
            <a:ext cx="4035623" cy="814982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8111" y="3872210"/>
            <a:ext cx="3278088" cy="814982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9525">
            <a:solidFill>
              <a:srgbClr val="DD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6245423"/>
            <a:ext cx="1082040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274069"/>
            <a:ext cx="351785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635769"/>
            <a:ext cx="3517850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635769"/>
            <a:ext cx="9525" cy="16478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4125" y="1635769"/>
            <a:ext cx="9525" cy="16478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675" y="2578744"/>
            <a:ext cx="32321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7000" y="3274069"/>
            <a:ext cx="351785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7000" y="1635769"/>
            <a:ext cx="3517850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7000" y="1635769"/>
            <a:ext cx="9525" cy="16478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325" y="1635769"/>
            <a:ext cx="9525" cy="16478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79875" y="2578744"/>
            <a:ext cx="32321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88200" y="3274069"/>
            <a:ext cx="3517850" cy="95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88200" y="1635769"/>
            <a:ext cx="3517850" cy="285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8200" y="1635769"/>
            <a:ext cx="9525" cy="16478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96526" y="1635769"/>
            <a:ext cx="9525" cy="1647825"/>
          </a:xfrm>
          <a:prstGeom prst="rect">
            <a:avLst/>
          </a:prstGeom>
          <a:solidFill>
            <a:srgbClr val="DD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1075" y="2578744"/>
            <a:ext cx="32321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675" y="2578744"/>
            <a:ext cx="28575" cy="5619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79875" y="2578744"/>
            <a:ext cx="28575" cy="5619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1075" y="2578744"/>
            <a:ext cx="28575" cy="56197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10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E6E6E"/>
                </a:solidFill>
                <a:latin typeface="Space Grotesk"/>
              </a:rPr>
              <a:t>STRATEGIC SYNTHESIS &amp; OPERATIONAL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1025"/>
            <a:ext cx="11506200" cy="361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b="1" sz="2475" i="0" u="none">
                <a:solidFill>
                  <a:srgbClr val="323232"/>
                </a:solidFill>
                <a:latin typeface="Plus Jakarta Sans"/>
              </a:rPr>
              <a:t>AI proposed, built and drafted. I decided what to keep.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6203" y="5380583"/>
            <a:ext cx="8179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DD0C8"/>
                </a:solidFill>
                <a:latin typeface="Space Grotesk"/>
              </a:rPr>
              <a:t>“BUILD FAST. MEASURE HONESTLY. WRITE THE DECISION RULE BEFORE THE DATA ARRIVES.”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31148"/>
            <a:ext cx="8801100" cy="25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b="1" sz="787" i="0" u="none">
                <a:solidFill>
                  <a:srgbClr val="323232"/>
                </a:solidFill>
                <a:latin typeface="Space Grotesk"/>
              </a:rPr>
              <a:t>AI Record:</a:t>
            </a:r>
            <a:r>
              <a:rPr b="0" sz="787" i="0" u="none">
                <a:solidFill>
                  <a:srgbClr val="6E6E6E"/>
                </a:solidFill>
                <a:latin typeface="Space Grotesk"/>
              </a:rPr>
              <a:t> Prompts and suggestions are paraphrased, not verbatim. Tools as recalled: ChatGPT (brainstorming, plan refinement), Claude (prototype build, notes review), Gemini (5-slide growth deck).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1650" y="6399162"/>
            <a:ext cx="264318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6E6E6E"/>
                </a:solidFill>
                <a:latin typeface="Space Grotesk"/>
              </a:rPr>
              <a:t>HUMAN JUDGMENT GOVERNS ALL DECISIONS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3976985"/>
            <a:ext cx="378804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6E6E6E"/>
                </a:solidFill>
                <a:latin typeface="Space Grotesk"/>
              </a:rPr>
              <a:t>WHAT CHANGED?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625" y="4119860"/>
            <a:ext cx="3125688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0" sz="900" i="0" u="none">
                <a:solidFill>
                  <a:srgbClr val="323232"/>
                </a:solidFill>
                <a:latin typeface="Plus Jakarta Sans"/>
              </a:rPr>
              <a:t>Shifted from broad promotion to a countable, trust-based campus distribution plan.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2013" y="3976985"/>
            <a:ext cx="4734966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6E6E6E"/>
                </a:solidFill>
                <a:latin typeface="Space Grotesk"/>
              </a:rPr>
              <a:t>WITH 24 MORE HOURS?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2013" y="4119860"/>
            <a:ext cx="3883223" cy="4625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0" sz="900" i="0" u="none">
                <a:solidFill>
                  <a:srgbClr val="323232"/>
                </a:solidFill>
                <a:latin typeface="Plus Jakarta Sans"/>
              </a:rPr>
              <a:t>Build and test registration form &amp; tracking sheet (none exist yet); run consent-based test; replace assumptions with observed data; add reserve-release logic.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1936" y="3976985"/>
            <a:ext cx="378804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6E6E6E"/>
                </a:solidFill>
                <a:latin typeface="Space Grotesk"/>
              </a:rPr>
              <a:t>DELIBERATELY REJECTED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1936" y="4119860"/>
            <a:ext cx="3125688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0" sz="900" i="0" u="none">
                <a:solidFill>
                  <a:srgbClr val="323232"/>
                </a:solidFill>
                <a:latin typeface="Plus Jakarta Sans"/>
              </a:rPr>
              <a:t>Multi-platform and influencer spend, a standard landing page, and AI-drafted claims I could not verify.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1797694"/>
            <a:ext cx="404012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6E6E6E"/>
                </a:solidFill>
                <a:latin typeface="Space Grotesk"/>
              </a:rPr>
              <a:t>DECISION 01 · AUDIENCE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" y="1969144"/>
            <a:ext cx="4040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Plus Jakarta Sans"/>
              </a:rPr>
              <a:t>Considered:</a:t>
            </a:r>
            <a:r>
              <a:rPr b="0" sz="900" i="0" u="none">
                <a:solidFill>
                  <a:srgbClr val="6E6E6E"/>
                </a:solidFill>
                <a:latin typeface="Plus Jakarta Sans"/>
              </a:rPr>
              <a:t> Broad targeting across all years.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675" y="2159644"/>
            <a:ext cx="3327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23232"/>
                </a:solidFill>
                <a:latin typeface="Plus Jakarta Sans"/>
              </a:rPr>
              <a:t>My Decision:</a:t>
            </a:r>
            <a:r>
              <a:rPr b="1" sz="1050" i="0" u="none">
                <a:solidFill>
                  <a:srgbClr val="323232"/>
                </a:solidFill>
                <a:latin typeface="Plus Jakarta Sans"/>
              </a:rPr>
              <a:t> Final-year engineering focus, as the brief specifies.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975" y="2645419"/>
            <a:ext cx="3127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323232"/>
                </a:solidFill>
                <a:latin typeface="Plus Jakarta Sans"/>
              </a:rPr>
              <a:t>Why:</a:t>
            </a:r>
            <a:r>
              <a:rPr b="0" sz="862" i="0" u="none">
                <a:solidFill>
                  <a:srgbClr val="323232"/>
                </a:solidFill>
                <a:latin typeface="Plus Jakarta Sans"/>
              </a:rPr>
              <a:t> Assumption: they need a project they can show and explain, so a guided first project is relevant. Not yet tested.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9875" y="1797694"/>
            <a:ext cx="404012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6E6E6E"/>
                </a:solidFill>
                <a:latin typeface="Space Grotesk"/>
              </a:rPr>
              <a:t>DECISION 02 · DISTRIBUTION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9875" y="1969144"/>
            <a:ext cx="3327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Plus Jakarta Sans"/>
              </a:rPr>
              <a:t>AI Suggested:</a:t>
            </a:r>
            <a:r>
              <a:rPr b="0" sz="900" i="0" u="none">
                <a:solidFill>
                  <a:srgbClr val="6E6E6E"/>
                </a:solidFill>
                <a:latin typeface="Plus Jakarta Sans"/>
              </a:rPr>
              <a:t> Several social platforms, paid promotions and influencer spend.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9875" y="2302519"/>
            <a:ext cx="404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23232"/>
                </a:solidFill>
                <a:latin typeface="Plus Jakarta Sans"/>
              </a:rPr>
              <a:t>My Decision:</a:t>
            </a:r>
            <a:r>
              <a:rPr b="1" sz="1050" i="0" u="none">
                <a:solidFill>
                  <a:srgbClr val="323232"/>
                </a:solidFill>
                <a:latin typeface="Plus Jakarta Sans"/>
              </a:rPr>
              <a:t> 4 channels with planned tracking.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4175" y="2645419"/>
            <a:ext cx="3127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323232"/>
                </a:solidFill>
                <a:latin typeface="Plus Jakarta Sans"/>
              </a:rPr>
              <a:t>Why:</a:t>
            </a:r>
            <a:r>
              <a:rPr b="0" sz="862" i="0" u="none">
                <a:solidFill>
                  <a:srgbClr val="323232"/>
                </a:solidFill>
                <a:latin typeface="Plus Jakarta Sans"/>
              </a:rPr>
              <a:t> Influencer reach is unverifiable at ₹2k. I assume (unproven) that trust and peer links work better; to be tested.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1075" y="1797694"/>
            <a:ext cx="404012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6E6E6E"/>
                </a:solidFill>
                <a:latin typeface="Space Grotesk"/>
              </a:rPr>
              <a:t>DECISION 03 · ASSET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1075" y="1969144"/>
            <a:ext cx="4040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6E6E"/>
                </a:solidFill>
                <a:latin typeface="Plus Jakarta Sans"/>
              </a:rPr>
              <a:t>AI Suggested:</a:t>
            </a:r>
            <a:r>
              <a:rPr b="0" sz="900" i="0" u="none">
                <a:solidFill>
                  <a:srgbClr val="6E6E6E"/>
                </a:solidFill>
                <a:latin typeface="Plus Jakarta Sans"/>
              </a:rPr>
              <a:t> Standard landing page.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1075" y="2159644"/>
            <a:ext cx="3327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23232"/>
                </a:solidFill>
                <a:latin typeface="Plus Jakarta Sans"/>
              </a:rPr>
              <a:t>My Decision:</a:t>
            </a:r>
            <a:r>
              <a:rPr b="1" sz="1050" i="0" u="none">
                <a:solidFill>
                  <a:srgbClr val="323232"/>
                </a:solidFill>
                <a:latin typeface="Plus Jakarta Sans"/>
              </a:rPr>
              <a:t> Build CampusPulse to support growth decisions.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5375" y="2645419"/>
            <a:ext cx="3127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323232"/>
                </a:solidFill>
                <a:latin typeface="Plus Jakarta Sans"/>
              </a:rPr>
              <a:t>Why:</a:t>
            </a:r>
            <a:r>
              <a:rPr b="0" sz="862" i="0" u="none">
                <a:solidFill>
                  <a:srgbClr val="323232"/>
                </a:solidFill>
                <a:latin typeface="Plus Jakarta Sans"/>
              </a:rPr>
              <a:t> Distribution and attribution are the hard part; the tool is designed to help direct effort. Untested on real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